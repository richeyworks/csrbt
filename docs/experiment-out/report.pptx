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159000"/>
            <a:ext cx="8128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3400" b="true">
                <a:solidFill>
                  <a:srgbClr val="1A1A19"/>
                </a:solidFill>
                <a:ea typeface="Calibri"/>
              </a:rPr>
              <a:t>🧪 meadow disturbance study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3810000"/>
            <a:ext cx="812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600" b="false">
                <a:solidFill>
                  <a:srgbClr val="666660"/>
                </a:solidFill>
                <a:latin typeface="Calibri"/>
              </a:rPr>
              <a:t>100 keys, seed 42, window 250 ops — 3 phase(s), 6 model(s), 7 hypothesis(es)</a:t>
            </a:r>
          </a:p>
          <a:p>
            <a:r>
              <a:rPr lang="en-US" sz="1300" b="false">
                <a:solidFill>
                  <a:srgbClr val="666660"/>
                </a:solidFill>
                <a:latin typeface="Calibri"/>
              </a:rPr>
              <a:t>Run by the CSRBT ecology experiment engine — deterministic; every number on these slides reproduces from the spec.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17500"/>
            <a:ext cx="812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 b="true">
                <a:solidFill>
                  <a:srgbClr val="1A1A19"/>
                </a:solidFill>
                <a:latin typeface="Calibri"/>
              </a:rPr>
              <a:t>The phases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81000" y="1143000"/>
          <a:ext cx="8382000" cy="162560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2794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phase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kind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ops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richness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touches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shannon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evenness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hill1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chao1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>
                          <a:solidFill>
                            <a:srgbClr val="1A1A19"/>
                          </a:solidFill>
                          <a:latin typeface="Calibri"/>
                        </a:rPr>
                        <a:t>bestFit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ED"/>
                    </a:solidFill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graze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uniform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2000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100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2000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4.579535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0.994433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97.469071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100.000000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GEOMETRIC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bloom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hot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2000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87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2000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2.209505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0.494749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9.111201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94.692308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BROKEN_STICK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94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seasons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churn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1500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923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1500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6.779959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0.993018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880.032779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1026.740035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 b="false">
                          <a:solidFill>
                            <a:srgbClr val="1A1A19"/>
                          </a:solidFill>
                          <a:latin typeface="Calibri"/>
                        </a:rPr>
                        <a:t>GEOMETRIC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17500"/>
            <a:ext cx="812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 b="true">
                <a:solidFill>
                  <a:srgbClr val="1A1A19"/>
                </a:solidFill>
                <a:latin typeface="Calibri"/>
              </a:rPr>
              <a:t>The hypotheses, graded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70000"/>
            <a:ext cx="8128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evenness(graze) &gt; 0.9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0.994433)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hill1(bloom) &lt; 20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9.111201)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brayCurtis(graze, bloom) &gt; 0.5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0.850500)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C03030"/>
                </a:solidFill>
                <a:ea typeface="Calibri"/>
              </a:rPr>
              <a:t>❌ REFUTED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evenness(bloom) &gt; 0.9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0.494749)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jaccard(pondA, pondB) &lt;= 0.5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0.500000)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evenness(bloom) is uneven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uneven)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0A7A0A"/>
                </a:solidFill>
                <a:ea typeface="Calibri"/>
              </a:rPr>
              <a:t>✅ CONFIRMED  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survivorship is type3</a:t>
            </a:r>
            <a:r>
              <a:rPr lang="en-US" sz="1200" b="false">
                <a:solidFill>
                  <a:srgbClr val="666660"/>
                </a:solidFill>
                <a:latin typeface="Calibri"/>
              </a:rPr>
              <a:t>   (observed type3)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17500"/>
            <a:ext cx="812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400" b="true">
                <a:solidFill>
                  <a:srgbClr val="1A1A19"/>
                </a:solidFill>
                <a:latin typeface="Calibri"/>
              </a:rPr>
              <a:t>The field notebook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70000"/>
            <a:ext cx="8128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•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sampled both ponds after two dry weeks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[bloom]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five keys took nearly all the traffic, as designed</a:t>
            </a:r>
          </a:p>
          <a:p>
            <a:pPr>
              <a:spcAft>
                <a:spcPct val="8000"/>
              </a:spcAft>
            </a:pPr>
            <a:r>
              <a:rPr lang="en-US" sz="1500" b="true">
                <a:solidFill>
                  <a:srgbClr val="666660"/>
                </a:solidFill>
                <a:latin typeface="Calibri"/>
              </a:rPr>
              <a:t>[coop]</a:t>
            </a:r>
            <a:r>
              <a:rPr lang="en-US" sz="1500" b="false">
                <a:solidFill>
                  <a:srgbClr val="1A1A19"/>
                </a:solidFill>
                <a:latin typeface="Calibri"/>
              </a:rPr>
              <a:t> tallied one hen for ten minutes before feeding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