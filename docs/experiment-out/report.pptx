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508000" y="2159000"/>
            <a:ext cx="8128000" cy="1524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/>
              <a:t/>
            </a:r>
            <a:endParaRPr lang="en-US" sz="1100"/>
          </a:p>
          <a:p>
            <a:r>
              <a:rPr lang="en-US" sz="3400" b="true">
                <a:solidFill>
                  <a:srgbClr val="1A1A19"/>
                </a:solidFill>
                <a:ea typeface="Calibri"/>
              </a:rPr>
              <a:t>🧪 meadow disturbance study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508000" y="3810000"/>
            <a:ext cx="8128000" cy="1143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/>
              <a:t/>
            </a:r>
            <a:endParaRPr lang="en-US" sz="1100"/>
          </a:p>
          <a:p>
            <a:r>
              <a:rPr lang="en-US" sz="1600" b="false">
                <a:solidFill>
                  <a:srgbClr val="666660"/>
                </a:solidFill>
                <a:latin typeface="Calibri"/>
              </a:rPr>
              <a:t>100 keys, seed 42, window 250 ops — 3 phase(s), 6 model(s), 7 hypothesis(es)</a:t>
            </a:r>
          </a:p>
          <a:p>
            <a:r>
              <a:rPr lang="en-US" sz="1300" b="false">
                <a:solidFill>
                  <a:srgbClr val="666660"/>
                </a:solidFill>
                <a:latin typeface="Calibri"/>
              </a:rPr>
              <a:t>Run by the CSRBT ecology experiment engine — deterministic; every number on these slides reproduces from the spec.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508000" y="317500"/>
            <a:ext cx="8128000" cy="635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/>
              <a:t/>
            </a:r>
            <a:endParaRPr lang="en-US" sz="1100"/>
          </a:p>
          <a:p>
            <a:r>
              <a:rPr lang="en-US" sz="2400" b="true">
                <a:solidFill>
                  <a:srgbClr val="1A1A19"/>
                </a:solidFill>
                <a:latin typeface="Calibri"/>
              </a:rPr>
              <a:t>The phases</a:t>
            </a:r>
          </a:p>
        </p:txBody>
      </p:sp>
      <p:graphicFrame>
        <p:nvGraphicFramePr>
          <p:cNvPr name="Table 3" id="3"/>
          <p:cNvGraphicFramePr>
            <a:graphicFrameLocks noGrp="true"/>
          </p:cNvGraphicFramePr>
          <p:nvPr/>
        </p:nvGraphicFramePr>
        <p:xfrm>
          <a:off x="381000" y="1143000"/>
          <a:ext cx="8382000" cy="1625600"/>
        </p:xfrm>
        <a:graphic>
          <a:graphicData uri="http://schemas.openxmlformats.org/drawingml/2006/table">
            <a:tbl>
              <a:tblPr/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279400"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100" b="true">
                          <a:solidFill>
                            <a:srgbClr val="1A1A19"/>
                          </a:solidFill>
                          <a:latin typeface="Calibri"/>
                        </a:rPr>
                        <a:t>phase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0ED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100" b="true">
                          <a:solidFill>
                            <a:srgbClr val="1A1A19"/>
                          </a:solidFill>
                          <a:latin typeface="Calibri"/>
                        </a:rPr>
                        <a:t>kind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0ED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100" b="true">
                          <a:solidFill>
                            <a:srgbClr val="1A1A19"/>
                          </a:solidFill>
                          <a:latin typeface="Calibri"/>
                        </a:rPr>
                        <a:t>ops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0ED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100" b="true">
                          <a:solidFill>
                            <a:srgbClr val="1A1A19"/>
                          </a:solidFill>
                          <a:latin typeface="Calibri"/>
                        </a:rPr>
                        <a:t>richness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0ED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100" b="true">
                          <a:solidFill>
                            <a:srgbClr val="1A1A19"/>
                          </a:solidFill>
                          <a:latin typeface="Calibri"/>
                        </a:rPr>
                        <a:t>touches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0ED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100" b="true">
                          <a:solidFill>
                            <a:srgbClr val="1A1A19"/>
                          </a:solidFill>
                          <a:latin typeface="Calibri"/>
                        </a:rPr>
                        <a:t>shannon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0ED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100" b="true">
                          <a:solidFill>
                            <a:srgbClr val="1A1A19"/>
                          </a:solidFill>
                          <a:latin typeface="Calibri"/>
                        </a:rPr>
                        <a:t>evenness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0ED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100" b="true">
                          <a:solidFill>
                            <a:srgbClr val="1A1A19"/>
                          </a:solidFill>
                          <a:latin typeface="Calibri"/>
                        </a:rPr>
                        <a:t>hill1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0ED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100" b="true">
                          <a:solidFill>
                            <a:srgbClr val="1A1A19"/>
                          </a:solidFill>
                          <a:latin typeface="Calibri"/>
                        </a:rPr>
                        <a:t>chao1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0ED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100" b="true">
                          <a:solidFill>
                            <a:srgbClr val="1A1A19"/>
                          </a:solidFill>
                          <a:latin typeface="Calibri"/>
                        </a:rPr>
                        <a:t>bestFit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0ED"/>
                    </a:solidFill>
                  </a:tcPr>
                </a:tc>
              </a:tr>
              <a:tr h="279400"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000" b="false">
                          <a:solidFill>
                            <a:srgbClr val="1A1A19"/>
                          </a:solidFill>
                          <a:latin typeface="Calibri"/>
                        </a:rPr>
                        <a:t>graze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000" b="false">
                          <a:solidFill>
                            <a:srgbClr val="1A1A19"/>
                          </a:solidFill>
                          <a:latin typeface="Calibri"/>
                        </a:rPr>
                        <a:t>uniform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000" b="false">
                          <a:solidFill>
                            <a:srgbClr val="1A1A19"/>
                          </a:solidFill>
                          <a:latin typeface="Calibri"/>
                        </a:rPr>
                        <a:t>2000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000" b="false">
                          <a:solidFill>
                            <a:srgbClr val="1A1A19"/>
                          </a:solidFill>
                          <a:latin typeface="Calibri"/>
                        </a:rPr>
                        <a:t>100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000" b="false">
                          <a:solidFill>
                            <a:srgbClr val="1A1A19"/>
                          </a:solidFill>
                          <a:latin typeface="Calibri"/>
                        </a:rPr>
                        <a:t>2000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000" b="false">
                          <a:solidFill>
                            <a:srgbClr val="1A1A19"/>
                          </a:solidFill>
                          <a:latin typeface="Calibri"/>
                        </a:rPr>
                        <a:t>4.579535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000" b="false">
                          <a:solidFill>
                            <a:srgbClr val="1A1A19"/>
                          </a:solidFill>
                          <a:latin typeface="Calibri"/>
                        </a:rPr>
                        <a:t>0.994433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000" b="false">
                          <a:solidFill>
                            <a:srgbClr val="1A1A19"/>
                          </a:solidFill>
                          <a:latin typeface="Calibri"/>
                        </a:rPr>
                        <a:t>97.469071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000" b="false">
                          <a:solidFill>
                            <a:srgbClr val="1A1A19"/>
                          </a:solidFill>
                          <a:latin typeface="Calibri"/>
                        </a:rPr>
                        <a:t>100.000000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000" b="false">
                          <a:solidFill>
                            <a:srgbClr val="1A1A19"/>
                          </a:solidFill>
                          <a:latin typeface="Calibri"/>
                        </a:rPr>
                        <a:t>GEOMETRIC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79400"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000" b="false">
                          <a:solidFill>
                            <a:srgbClr val="1A1A19"/>
                          </a:solidFill>
                          <a:latin typeface="Calibri"/>
                        </a:rPr>
                        <a:t>bloom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000" b="false">
                          <a:solidFill>
                            <a:srgbClr val="1A1A19"/>
                          </a:solidFill>
                          <a:latin typeface="Calibri"/>
                        </a:rPr>
                        <a:t>hot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000" b="false">
                          <a:solidFill>
                            <a:srgbClr val="1A1A19"/>
                          </a:solidFill>
                          <a:latin typeface="Calibri"/>
                        </a:rPr>
                        <a:t>2000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000" b="false">
                          <a:solidFill>
                            <a:srgbClr val="1A1A19"/>
                          </a:solidFill>
                          <a:latin typeface="Calibri"/>
                        </a:rPr>
                        <a:t>87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000" b="false">
                          <a:solidFill>
                            <a:srgbClr val="1A1A19"/>
                          </a:solidFill>
                          <a:latin typeface="Calibri"/>
                        </a:rPr>
                        <a:t>2000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000" b="false">
                          <a:solidFill>
                            <a:srgbClr val="1A1A19"/>
                          </a:solidFill>
                          <a:latin typeface="Calibri"/>
                        </a:rPr>
                        <a:t>2.209505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000" b="false">
                          <a:solidFill>
                            <a:srgbClr val="1A1A19"/>
                          </a:solidFill>
                          <a:latin typeface="Calibri"/>
                        </a:rPr>
                        <a:t>0.494749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000" b="false">
                          <a:solidFill>
                            <a:srgbClr val="1A1A19"/>
                          </a:solidFill>
                          <a:latin typeface="Calibri"/>
                        </a:rPr>
                        <a:t>9.111201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000" b="false">
                          <a:solidFill>
                            <a:srgbClr val="1A1A19"/>
                          </a:solidFill>
                          <a:latin typeface="Calibri"/>
                        </a:rPr>
                        <a:t>94.692308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000" b="false">
                          <a:solidFill>
                            <a:srgbClr val="1A1A19"/>
                          </a:solidFill>
                          <a:latin typeface="Calibri"/>
                        </a:rPr>
                        <a:t>BROKEN_STICK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79400"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000" b="false">
                          <a:solidFill>
                            <a:srgbClr val="1A1A19"/>
                          </a:solidFill>
                          <a:latin typeface="Calibri"/>
                        </a:rPr>
                        <a:t>seasons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000" b="false">
                          <a:solidFill>
                            <a:srgbClr val="1A1A19"/>
                          </a:solidFill>
                          <a:latin typeface="Calibri"/>
                        </a:rPr>
                        <a:t>churn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000" b="false">
                          <a:solidFill>
                            <a:srgbClr val="1A1A19"/>
                          </a:solidFill>
                          <a:latin typeface="Calibri"/>
                        </a:rPr>
                        <a:t>1500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000" b="false">
                          <a:solidFill>
                            <a:srgbClr val="1A1A19"/>
                          </a:solidFill>
                          <a:latin typeface="Calibri"/>
                        </a:rPr>
                        <a:t>923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000" b="false">
                          <a:solidFill>
                            <a:srgbClr val="1A1A19"/>
                          </a:solidFill>
                          <a:latin typeface="Calibri"/>
                        </a:rPr>
                        <a:t>1500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000" b="false">
                          <a:solidFill>
                            <a:srgbClr val="1A1A19"/>
                          </a:solidFill>
                          <a:latin typeface="Calibri"/>
                        </a:rPr>
                        <a:t>6.779959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000" b="false">
                          <a:solidFill>
                            <a:srgbClr val="1A1A19"/>
                          </a:solidFill>
                          <a:latin typeface="Calibri"/>
                        </a:rPr>
                        <a:t>0.993018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000" b="false">
                          <a:solidFill>
                            <a:srgbClr val="1A1A19"/>
                          </a:solidFill>
                          <a:latin typeface="Calibri"/>
                        </a:rPr>
                        <a:t>880.032779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000" b="false">
                          <a:solidFill>
                            <a:srgbClr val="1A1A19"/>
                          </a:solidFill>
                          <a:latin typeface="Calibri"/>
                        </a:rPr>
                        <a:t>1026.740035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1000" b="false">
                          <a:solidFill>
                            <a:srgbClr val="1A1A19"/>
                          </a:solidFill>
                          <a:latin typeface="Calibri"/>
                        </a:rPr>
                        <a:t>GEOMETRIC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508000" y="317500"/>
            <a:ext cx="8128000" cy="635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/>
              <a:t/>
            </a:r>
            <a:endParaRPr lang="en-US" sz="1100"/>
          </a:p>
          <a:p>
            <a:r>
              <a:rPr lang="en-US" sz="2400" b="true">
                <a:solidFill>
                  <a:srgbClr val="1A1A19"/>
                </a:solidFill>
                <a:latin typeface="Calibri"/>
              </a:rPr>
              <a:t>The hypotheses, graded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508000" y="1270000"/>
            <a:ext cx="8128000" cy="4826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/>
              <a:t/>
            </a:r>
            <a:endParaRPr lang="en-US" sz="1100"/>
          </a:p>
          <a:p>
            <a:pPr>
              <a:spcAft>
                <a:spcPct val="8000"/>
              </a:spcAft>
            </a:pPr>
            <a:r>
              <a:rPr lang="en-US" sz="1500" b="true">
                <a:solidFill>
                  <a:srgbClr val="0A7A0A"/>
                </a:solidFill>
                <a:ea typeface="Calibri"/>
              </a:rPr>
              <a:t>✅ CONFIRMED  </a:t>
            </a:r>
            <a:r>
              <a:rPr lang="en-US" sz="1500" b="false">
                <a:solidFill>
                  <a:srgbClr val="1A1A19"/>
                </a:solidFill>
                <a:latin typeface="Calibri"/>
              </a:rPr>
              <a:t>evenness(graze) &gt; 0.9</a:t>
            </a:r>
            <a:r>
              <a:rPr lang="en-US" sz="1200" b="false">
                <a:solidFill>
                  <a:srgbClr val="666660"/>
                </a:solidFill>
                <a:latin typeface="Calibri"/>
              </a:rPr>
              <a:t>   (observed 0.994433)</a:t>
            </a:r>
          </a:p>
          <a:p>
            <a:pPr>
              <a:spcAft>
                <a:spcPct val="8000"/>
              </a:spcAft>
            </a:pPr>
            <a:r>
              <a:rPr lang="en-US" sz="1500" b="true">
                <a:solidFill>
                  <a:srgbClr val="0A7A0A"/>
                </a:solidFill>
                <a:ea typeface="Calibri"/>
              </a:rPr>
              <a:t>✅ CONFIRMED  </a:t>
            </a:r>
            <a:r>
              <a:rPr lang="en-US" sz="1500" b="false">
                <a:solidFill>
                  <a:srgbClr val="1A1A19"/>
                </a:solidFill>
                <a:latin typeface="Calibri"/>
              </a:rPr>
              <a:t>hill1(bloom) &lt; 20</a:t>
            </a:r>
            <a:r>
              <a:rPr lang="en-US" sz="1200" b="false">
                <a:solidFill>
                  <a:srgbClr val="666660"/>
                </a:solidFill>
                <a:latin typeface="Calibri"/>
              </a:rPr>
              <a:t>   (observed 9.111201)</a:t>
            </a:r>
          </a:p>
          <a:p>
            <a:pPr>
              <a:spcAft>
                <a:spcPct val="8000"/>
              </a:spcAft>
            </a:pPr>
            <a:r>
              <a:rPr lang="en-US" sz="1500" b="true">
                <a:solidFill>
                  <a:srgbClr val="0A7A0A"/>
                </a:solidFill>
                <a:ea typeface="Calibri"/>
              </a:rPr>
              <a:t>✅ CONFIRMED  </a:t>
            </a:r>
            <a:r>
              <a:rPr lang="en-US" sz="1500" b="false">
                <a:solidFill>
                  <a:srgbClr val="1A1A19"/>
                </a:solidFill>
                <a:latin typeface="Calibri"/>
              </a:rPr>
              <a:t>brayCurtis(graze, bloom) &gt; 0.5</a:t>
            </a:r>
            <a:r>
              <a:rPr lang="en-US" sz="1200" b="false">
                <a:solidFill>
                  <a:srgbClr val="666660"/>
                </a:solidFill>
                <a:latin typeface="Calibri"/>
              </a:rPr>
              <a:t>   (observed 0.850500)</a:t>
            </a:r>
          </a:p>
          <a:p>
            <a:pPr>
              <a:spcAft>
                <a:spcPct val="8000"/>
              </a:spcAft>
            </a:pPr>
            <a:r>
              <a:rPr lang="en-US" sz="1500" b="true">
                <a:solidFill>
                  <a:srgbClr val="C03030"/>
                </a:solidFill>
                <a:ea typeface="Calibri"/>
              </a:rPr>
              <a:t>❌ REFUTED  </a:t>
            </a:r>
            <a:r>
              <a:rPr lang="en-US" sz="1500" b="false">
                <a:solidFill>
                  <a:srgbClr val="1A1A19"/>
                </a:solidFill>
                <a:latin typeface="Calibri"/>
              </a:rPr>
              <a:t>evenness(bloom) &gt; 0.9</a:t>
            </a:r>
            <a:r>
              <a:rPr lang="en-US" sz="1200" b="false">
                <a:solidFill>
                  <a:srgbClr val="666660"/>
                </a:solidFill>
                <a:latin typeface="Calibri"/>
              </a:rPr>
              <a:t>   (observed 0.494749)</a:t>
            </a:r>
          </a:p>
          <a:p>
            <a:pPr>
              <a:spcAft>
                <a:spcPct val="8000"/>
              </a:spcAft>
            </a:pPr>
            <a:r>
              <a:rPr lang="en-US" sz="1500" b="true">
                <a:solidFill>
                  <a:srgbClr val="0A7A0A"/>
                </a:solidFill>
                <a:ea typeface="Calibri"/>
              </a:rPr>
              <a:t>✅ CONFIRMED  </a:t>
            </a:r>
            <a:r>
              <a:rPr lang="en-US" sz="1500" b="false">
                <a:solidFill>
                  <a:srgbClr val="1A1A19"/>
                </a:solidFill>
                <a:latin typeface="Calibri"/>
              </a:rPr>
              <a:t>jaccard(pondA, pondB) &lt;= 0.5</a:t>
            </a:r>
            <a:r>
              <a:rPr lang="en-US" sz="1200" b="false">
                <a:solidFill>
                  <a:srgbClr val="666660"/>
                </a:solidFill>
                <a:latin typeface="Calibri"/>
              </a:rPr>
              <a:t>   (observed 0.500000)</a:t>
            </a:r>
          </a:p>
          <a:p>
            <a:pPr>
              <a:spcAft>
                <a:spcPct val="8000"/>
              </a:spcAft>
            </a:pPr>
            <a:r>
              <a:rPr lang="en-US" sz="1500" b="true">
                <a:solidFill>
                  <a:srgbClr val="0A7A0A"/>
                </a:solidFill>
                <a:ea typeface="Calibri"/>
              </a:rPr>
              <a:t>✅ CONFIRMED  </a:t>
            </a:r>
            <a:r>
              <a:rPr lang="en-US" sz="1500" b="false">
                <a:solidFill>
                  <a:srgbClr val="1A1A19"/>
                </a:solidFill>
                <a:latin typeface="Calibri"/>
              </a:rPr>
              <a:t>evenness(bloom) is uneven</a:t>
            </a:r>
            <a:r>
              <a:rPr lang="en-US" sz="1200" b="false">
                <a:solidFill>
                  <a:srgbClr val="666660"/>
                </a:solidFill>
                <a:latin typeface="Calibri"/>
              </a:rPr>
              <a:t>   (observed uneven)</a:t>
            </a:r>
          </a:p>
          <a:p>
            <a:pPr>
              <a:spcAft>
                <a:spcPct val="8000"/>
              </a:spcAft>
            </a:pPr>
            <a:r>
              <a:rPr lang="en-US" sz="1500" b="true">
                <a:solidFill>
                  <a:srgbClr val="0A7A0A"/>
                </a:solidFill>
                <a:ea typeface="Calibri"/>
              </a:rPr>
              <a:t>✅ CONFIRMED  </a:t>
            </a:r>
            <a:r>
              <a:rPr lang="en-US" sz="1500" b="false">
                <a:solidFill>
                  <a:srgbClr val="1A1A19"/>
                </a:solidFill>
                <a:latin typeface="Calibri"/>
              </a:rPr>
              <a:t>survivorship is type3</a:t>
            </a:r>
            <a:r>
              <a:rPr lang="en-US" sz="1200" b="false">
                <a:solidFill>
                  <a:srgbClr val="666660"/>
                </a:solidFill>
                <a:latin typeface="Calibri"/>
              </a:rPr>
              <a:t>   (observed type3)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508000" y="317500"/>
            <a:ext cx="8128000" cy="635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/>
              <a:t/>
            </a:r>
            <a:endParaRPr lang="en-US" sz="1100"/>
          </a:p>
          <a:p>
            <a:r>
              <a:rPr lang="en-US" sz="2400" b="true">
                <a:solidFill>
                  <a:srgbClr val="1A1A19"/>
                </a:solidFill>
                <a:latin typeface="Calibri"/>
              </a:rPr>
              <a:t>The field notebook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508000" y="1270000"/>
            <a:ext cx="8128000" cy="4826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/>
              <a:t/>
            </a:r>
            <a:endParaRPr lang="en-US" sz="1100"/>
          </a:p>
          <a:p>
            <a:pPr>
              <a:spcAft>
                <a:spcPct val="8000"/>
              </a:spcAft>
            </a:pPr>
            <a:r>
              <a:rPr lang="en-US" sz="1500" b="true">
                <a:solidFill>
                  <a:srgbClr val="666660"/>
                </a:solidFill>
                <a:latin typeface="Calibri"/>
              </a:rPr>
              <a:t>•</a:t>
            </a:r>
            <a:r>
              <a:rPr lang="en-US" sz="1500" b="false">
                <a:solidFill>
                  <a:srgbClr val="1A1A19"/>
                </a:solidFill>
                <a:latin typeface="Calibri"/>
              </a:rPr>
              <a:t> sampled both ponds after two dry weeks</a:t>
            </a:r>
          </a:p>
          <a:p>
            <a:pPr>
              <a:spcAft>
                <a:spcPct val="8000"/>
              </a:spcAft>
            </a:pPr>
            <a:r>
              <a:rPr lang="en-US" sz="1500" b="true">
                <a:solidFill>
                  <a:srgbClr val="666660"/>
                </a:solidFill>
                <a:latin typeface="Calibri"/>
              </a:rPr>
              <a:t>[bloom]</a:t>
            </a:r>
            <a:r>
              <a:rPr lang="en-US" sz="1500" b="false">
                <a:solidFill>
                  <a:srgbClr val="1A1A19"/>
                </a:solidFill>
                <a:latin typeface="Calibri"/>
              </a:rPr>
              <a:t> five keys took nearly all the traffic, as designed</a:t>
            </a:r>
          </a:p>
          <a:p>
            <a:pPr>
              <a:spcAft>
                <a:spcPct val="8000"/>
              </a:spcAft>
            </a:pPr>
            <a:r>
              <a:rPr lang="en-US" sz="1500" b="true">
                <a:solidFill>
                  <a:srgbClr val="666660"/>
                </a:solidFill>
                <a:latin typeface="Calibri"/>
              </a:rPr>
              <a:t>[coop]</a:t>
            </a:r>
            <a:r>
              <a:rPr lang="en-US" sz="1500" b="false">
                <a:solidFill>
                  <a:srgbClr val="1A1A19"/>
                </a:solidFill>
                <a:latin typeface="Calibri"/>
              </a:rPr>
              <a:t> tallied one hen for ten minutes before feeding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